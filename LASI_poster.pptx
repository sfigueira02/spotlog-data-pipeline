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30240288" cy="42840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D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9A1782-450E-4A78-8D5A-FE38AD064A94}" v="3" dt="2025-12-03T17:51:42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730" y="-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Figueira" userId="fa6685bc-cb1c-4f47-91eb-d79dacb41727" providerId="ADAL" clId="{002BFD63-38EF-422D-BE1D-9B172A26CAAA}"/>
    <pc:docChg chg="undo custSel modSld">
      <pc:chgData name="Samuel Figueira" userId="fa6685bc-cb1c-4f47-91eb-d79dacb41727" providerId="ADAL" clId="{002BFD63-38EF-422D-BE1D-9B172A26CAAA}" dt="2025-12-03T17:54:33.401" v="4" actId="21"/>
      <pc:docMkLst>
        <pc:docMk/>
      </pc:docMkLst>
      <pc:sldChg chg="addSp delSp modSp mod">
        <pc:chgData name="Samuel Figueira" userId="fa6685bc-cb1c-4f47-91eb-d79dacb41727" providerId="ADAL" clId="{002BFD63-38EF-422D-BE1D-9B172A26CAAA}" dt="2025-12-03T17:54:33.401" v="4" actId="21"/>
        <pc:sldMkLst>
          <pc:docMk/>
          <pc:sldMk cId="1030975887" sldId="256"/>
        </pc:sldMkLst>
        <pc:spChg chg="add del">
          <ac:chgData name="Samuel Figueira" userId="fa6685bc-cb1c-4f47-91eb-d79dacb41727" providerId="ADAL" clId="{002BFD63-38EF-422D-BE1D-9B172A26CAAA}" dt="2025-12-03T17:54:33.401" v="4" actId="21"/>
          <ac:spMkLst>
            <pc:docMk/>
            <pc:sldMk cId="1030975887" sldId="256"/>
            <ac:spMk id="3" creationId="{BFE5BC40-55E2-C94F-1955-49359781F9EC}"/>
          </ac:spMkLst>
        </pc:spChg>
        <pc:spChg chg="add del">
          <ac:chgData name="Samuel Figueira" userId="fa6685bc-cb1c-4f47-91eb-d79dacb41727" providerId="ADAL" clId="{002BFD63-38EF-422D-BE1D-9B172A26CAAA}" dt="2025-12-03T17:54:33.401" v="4" actId="21"/>
          <ac:spMkLst>
            <pc:docMk/>
            <pc:sldMk cId="1030975887" sldId="256"/>
            <ac:spMk id="10" creationId="{E31A17DA-C08D-5BBB-58B9-817BE1E1BF73}"/>
          </ac:spMkLst>
        </pc:spChg>
        <pc:spChg chg="add del">
          <ac:chgData name="Samuel Figueira" userId="fa6685bc-cb1c-4f47-91eb-d79dacb41727" providerId="ADAL" clId="{002BFD63-38EF-422D-BE1D-9B172A26CAAA}" dt="2025-12-03T17:54:33.401" v="4" actId="21"/>
          <ac:spMkLst>
            <pc:docMk/>
            <pc:sldMk cId="1030975887" sldId="256"/>
            <ac:spMk id="17" creationId="{F9E8D32C-F36D-2BBA-1ABE-97FC69FF5C0D}"/>
          </ac:spMkLst>
        </pc:spChg>
        <pc:spChg chg="add del">
          <ac:chgData name="Samuel Figueira" userId="fa6685bc-cb1c-4f47-91eb-d79dacb41727" providerId="ADAL" clId="{002BFD63-38EF-422D-BE1D-9B172A26CAAA}" dt="2025-12-03T17:54:33.401" v="4" actId="21"/>
          <ac:spMkLst>
            <pc:docMk/>
            <pc:sldMk cId="1030975887" sldId="256"/>
            <ac:spMk id="20" creationId="{5DD80EB8-A994-B264-84C2-BDDB0D02F70C}"/>
          </ac:spMkLst>
        </pc:spChg>
        <pc:spChg chg="add del">
          <ac:chgData name="Samuel Figueira" userId="fa6685bc-cb1c-4f47-91eb-d79dacb41727" providerId="ADAL" clId="{002BFD63-38EF-422D-BE1D-9B172A26CAAA}" dt="2025-12-03T17:54:33.401" v="4" actId="21"/>
          <ac:spMkLst>
            <pc:docMk/>
            <pc:sldMk cId="1030975887" sldId="256"/>
            <ac:spMk id="23" creationId="{C4C0BAD6-6016-0AF1-2951-110B8E77E981}"/>
          </ac:spMkLst>
        </pc:spChg>
        <pc:spChg chg="add del">
          <ac:chgData name="Samuel Figueira" userId="fa6685bc-cb1c-4f47-91eb-d79dacb41727" providerId="ADAL" clId="{002BFD63-38EF-422D-BE1D-9B172A26CAAA}" dt="2025-12-03T17:54:33.401" v="4" actId="21"/>
          <ac:spMkLst>
            <pc:docMk/>
            <pc:sldMk cId="1030975887" sldId="256"/>
            <ac:spMk id="24" creationId="{E539BE1C-AC61-9B16-EDF5-0C8A24B12805}"/>
          </ac:spMkLst>
        </pc:spChg>
        <pc:spChg chg="add del mod">
          <ac:chgData name="Samuel Figueira" userId="fa6685bc-cb1c-4f47-91eb-d79dacb41727" providerId="ADAL" clId="{002BFD63-38EF-422D-BE1D-9B172A26CAAA}" dt="2025-12-03T17:51:42.779" v="2" actId="478"/>
          <ac:spMkLst>
            <pc:docMk/>
            <pc:sldMk cId="1030975887" sldId="256"/>
            <ac:spMk id="26" creationId="{E5322051-DB5A-27A1-5411-51692D9EA16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C9021-F64F-4172-ADD7-FF228C700D82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2339975" y="1143000"/>
            <a:ext cx="217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C1259-1DF4-458D-B51B-593FD71DF7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67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911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821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732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643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553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464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374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1285" algn="l" defTabSz="3507821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C1259-1DF4-458D-B51B-593FD71DF77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6645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7011132"/>
            <a:ext cx="25704245" cy="14914762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501064"/>
            <a:ext cx="22680216" cy="10343147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159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004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80331"/>
            <a:ext cx="26082248" cy="17820361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69280"/>
            <a:ext cx="26082248" cy="9371307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>
                    <a:tint val="82000"/>
                  </a:schemeClr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82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463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404240"/>
            <a:ext cx="12852122" cy="2718176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404240"/>
            <a:ext cx="12852122" cy="2718176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510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80857"/>
            <a:ext cx="26082248" cy="828047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501820"/>
            <a:ext cx="12793057" cy="514678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48601"/>
            <a:ext cx="12793057" cy="2301673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501820"/>
            <a:ext cx="12856061" cy="514678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48601"/>
            <a:ext cx="12856061" cy="2301673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631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857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52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6018"/>
            <a:ext cx="9753280" cy="999606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68216"/>
            <a:ext cx="15309146" cy="30444362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52082"/>
            <a:ext cx="9753280" cy="23810073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8002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6018"/>
            <a:ext cx="9753280" cy="999606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68216"/>
            <a:ext cx="15309146" cy="30444362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52082"/>
            <a:ext cx="9753280" cy="23810073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739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8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80848"/>
            <a:ext cx="6520562" cy="36305153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80848"/>
            <a:ext cx="19183683" cy="36305153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536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80857"/>
            <a:ext cx="26082248" cy="828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404240"/>
            <a:ext cx="26082248" cy="2718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706598"/>
            <a:ext cx="6804065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AF235-8EB4-4D65-B4F0-C33253CA5DC3}" type="datetimeFigureOut">
              <a:rPr lang="pt-PT" smtClean="0"/>
              <a:t>03/12/2025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706598"/>
            <a:ext cx="10206097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706598"/>
            <a:ext cx="6804065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118FF-05C8-4D89-BF18-AEBC52D67B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508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m 31">
            <a:extLst>
              <a:ext uri="{FF2B5EF4-FFF2-40B4-BE49-F238E27FC236}">
                <a16:creationId xmlns:a16="http://schemas.microsoft.com/office/drawing/2014/main" id="{7873FB2B-CDAB-05C1-76BB-EF1F114390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" t="19497" r="98" b="11872"/>
          <a:stretch>
            <a:fillRect/>
          </a:stretch>
        </p:blipFill>
        <p:spPr>
          <a:xfrm>
            <a:off x="13521638" y="41095010"/>
            <a:ext cx="16691045" cy="174345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76F669F-5007-E1EC-5A46-C135E51529FC}"/>
              </a:ext>
            </a:extLst>
          </p:cNvPr>
          <p:cNvSpPr/>
          <p:nvPr/>
        </p:nvSpPr>
        <p:spPr>
          <a:xfrm>
            <a:off x="0" y="-6298"/>
            <a:ext cx="30240288" cy="549269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0B0F5-F4FB-6A04-FB12-09BD378D3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0429" y="229379"/>
            <a:ext cx="21795531" cy="2174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pt-PT" sz="54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Beyond Fuel and Energy Savings: A Holistic Assessment of Google Maps: </a:t>
            </a: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pt-PT" sz="54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Eco-Routing on Emissions, Urban Impact, and Driver Stress</a:t>
            </a:r>
            <a:endParaRPr lang="en-GB" altLang="pt-PT" sz="5400">
              <a:solidFill>
                <a:srgbClr val="FFFFFF"/>
              </a:solidFill>
              <a:latin typeface="Aptos Display"/>
              <a:ea typeface="MS PGothic"/>
              <a:cs typeface="Calibri"/>
            </a:endParaRPr>
          </a:p>
        </p:txBody>
      </p:sp>
      <p:pic>
        <p:nvPicPr>
          <p:cNvPr id="7" name="Imagem 6" descr="Uma imagem com texto, Tipo de letra, cartão de visita, logótipo&#10;&#10;Os conteúdos gerados por IA podem estar incorretos.">
            <a:extLst>
              <a:ext uri="{FF2B5EF4-FFF2-40B4-BE49-F238E27FC236}">
                <a16:creationId xmlns:a16="http://schemas.microsoft.com/office/drawing/2014/main" id="{B2FA5D2D-36D9-EDC2-9C30-F97297263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16461" r="23370" b="18107"/>
          <a:stretch>
            <a:fillRect/>
          </a:stretch>
        </p:blipFill>
        <p:spPr>
          <a:xfrm>
            <a:off x="188261" y="1449310"/>
            <a:ext cx="6398289" cy="2546792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289B7EF1-A941-AED0-E355-732EBFC78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2514" y="2406179"/>
            <a:ext cx="23483265" cy="2932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pt-PT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Samuel Figueira</a:t>
            </a:r>
            <a:r>
              <a:rPr lang="en-US" altLang="pt-PT" sz="32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 (a), </a:t>
            </a:r>
            <a:r>
              <a:rPr lang="en-US" altLang="pt-PT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Paulo Fernandes </a:t>
            </a:r>
            <a:r>
              <a:rPr lang="en-US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(a), (b)1,2</a:t>
            </a:r>
            <a:r>
              <a:rPr lang="en-US" altLang="pt-PT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, </a:t>
            </a:r>
            <a:r>
              <a:rPr lang="en-US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Eloísa Macedo (a), (b)1,2 Jorge M. Bandeira (a), (b)1,2</a:t>
            </a:r>
            <a:endParaRPr lang="en-US" altLang="pt-PT" sz="2800">
              <a:solidFill>
                <a:srgbClr val="FFFFFF"/>
              </a:solidFill>
              <a:latin typeface="Aptos Display"/>
              <a:ea typeface="MS PGothic"/>
              <a:cs typeface="Calibri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pt-PT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(a) Department of Mechanical Engineering; University of Aveiro 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pt-PT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(b) 1 TEMA - Centre for Mechanical Technology and Automation, Department of Mechanical Engineering, University of Aveiro, 3810-193 Aveiro, Portugal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pt-PT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(b) 2 LASI - Intelligent Systems Associate Laboratory, Guimarães, Portugal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pt-PT" sz="2800">
                <a:solidFill>
                  <a:srgbClr val="FFFFFF"/>
                </a:solidFill>
                <a:latin typeface="Aptos Display"/>
                <a:ea typeface="MS PGothic"/>
                <a:cs typeface="Calibri"/>
              </a:rPr>
              <a:t>samuel.figueira@live.ua.pt; paulo.fernandes@ua.pt; macedo@ua.pt; jorgebandeira@ua.pt 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378FE3FD-C0AC-71B3-E6F4-DD4DE5B82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59" y="5953569"/>
            <a:ext cx="5604319" cy="19710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pt-PT" sz="2800" b="1">
                <a:solidFill>
                  <a:schemeClr val="tx2">
                    <a:lumMod val="90000"/>
                    <a:lumOff val="10000"/>
                  </a:schemeClr>
                </a:solidFill>
                <a:latin typeface="Aptos Display"/>
                <a:ea typeface="MS PGothic"/>
                <a:cs typeface="Calibri"/>
              </a:rPr>
              <a:t>Abstract</a:t>
            </a: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2800">
                <a:latin typeface="Aptos"/>
                <a:ea typeface="MS PGothic"/>
                <a:cs typeface="Times"/>
              </a:rPr>
              <a:t>This study evaluates </a:t>
            </a:r>
            <a:r>
              <a:rPr lang="en-US" sz="2800" b="1">
                <a:latin typeface="Aptos"/>
                <a:ea typeface="MS PGothic"/>
                <a:cs typeface="Times"/>
              </a:rPr>
              <a:t>Google Maps’ eco-routing feature</a:t>
            </a:r>
            <a:r>
              <a:rPr lang="en-US" sz="2800">
                <a:latin typeface="Aptos"/>
                <a:ea typeface="MS PGothic"/>
                <a:cs typeface="Times"/>
              </a:rPr>
              <a:t> through </a:t>
            </a:r>
            <a:r>
              <a:rPr lang="en-US" sz="2800" b="1">
                <a:latin typeface="Aptos"/>
                <a:ea typeface="MS PGothic"/>
                <a:cs typeface="Times"/>
              </a:rPr>
              <a:t>real-world experiments</a:t>
            </a:r>
            <a:r>
              <a:rPr lang="en-US" sz="2800">
                <a:latin typeface="Aptos"/>
                <a:ea typeface="MS PGothic"/>
                <a:cs typeface="Times"/>
              </a:rPr>
              <a:t> in </a:t>
            </a:r>
            <a:r>
              <a:rPr lang="en-US" sz="2800" b="1">
                <a:latin typeface="Aptos"/>
                <a:ea typeface="MS PGothic"/>
                <a:cs typeface="Times"/>
              </a:rPr>
              <a:t>Portugal</a:t>
            </a:r>
            <a:r>
              <a:rPr lang="en-US" sz="2800">
                <a:latin typeface="Aptos"/>
                <a:ea typeface="MS PGothic"/>
                <a:cs typeface="Times"/>
              </a:rPr>
              <a:t> using </a:t>
            </a:r>
            <a:r>
              <a:rPr lang="en-US" sz="2800" b="1">
                <a:latin typeface="Aptos"/>
                <a:ea typeface="MS PGothic"/>
                <a:cs typeface="Times"/>
              </a:rPr>
              <a:t>diesel, hybrid, gasoline, and electric vehicles</a:t>
            </a:r>
            <a:r>
              <a:rPr lang="en-US" sz="2800">
                <a:latin typeface="Aptos"/>
                <a:ea typeface="MS PGothic"/>
                <a:cs typeface="Times"/>
              </a:rPr>
              <a:t> across </a:t>
            </a:r>
            <a:r>
              <a:rPr lang="en-US" sz="2800" b="1">
                <a:latin typeface="Aptos"/>
                <a:ea typeface="MS PGothic"/>
                <a:cs typeface="Times"/>
              </a:rPr>
              <a:t>urban, intercity, and regional routes</a:t>
            </a:r>
            <a:r>
              <a:rPr lang="en-US" sz="2800">
                <a:latin typeface="Aptos"/>
                <a:ea typeface="MS PGothic"/>
                <a:cs typeface="Times"/>
              </a:rPr>
              <a:t>. </a:t>
            </a:r>
            <a:r>
              <a:rPr lang="en-US" sz="2800" b="1">
                <a:latin typeface="Aptos"/>
                <a:ea typeface="MS PGothic"/>
                <a:cs typeface="Times"/>
              </a:rPr>
              <a:t>Second-by-second data</a:t>
            </a:r>
            <a:r>
              <a:rPr lang="en-US" sz="2800">
                <a:latin typeface="Aptos"/>
                <a:ea typeface="MS PGothic"/>
                <a:cs typeface="Times"/>
              </a:rPr>
              <a:t> were collected with </a:t>
            </a:r>
            <a:r>
              <a:rPr lang="en-US" sz="2800" b="1">
                <a:latin typeface="Aptos"/>
                <a:ea typeface="MS PGothic"/>
                <a:cs typeface="Times"/>
              </a:rPr>
              <a:t>PEMS</a:t>
            </a:r>
            <a:r>
              <a:rPr lang="en-US" sz="2800">
                <a:latin typeface="Aptos"/>
                <a:ea typeface="MS PGothic"/>
                <a:cs typeface="Times"/>
              </a:rPr>
              <a:t>, </a:t>
            </a:r>
            <a:r>
              <a:rPr lang="en-US" sz="2800" b="1">
                <a:latin typeface="Aptos"/>
                <a:ea typeface="MS PGothic"/>
                <a:cs typeface="Times"/>
              </a:rPr>
              <a:t>GPS</a:t>
            </a:r>
            <a:r>
              <a:rPr lang="en-US" sz="2800">
                <a:latin typeface="Aptos"/>
                <a:ea typeface="MS PGothic"/>
                <a:cs typeface="Times"/>
              </a:rPr>
              <a:t>, and </a:t>
            </a:r>
            <a:r>
              <a:rPr lang="en-US" sz="2800" b="1">
                <a:latin typeface="Aptos"/>
                <a:ea typeface="MS PGothic"/>
                <a:cs typeface="Times"/>
              </a:rPr>
              <a:t>OBD-II</a:t>
            </a:r>
            <a:r>
              <a:rPr lang="en-US" sz="2800">
                <a:latin typeface="Aptos"/>
                <a:ea typeface="MS PGothic"/>
                <a:cs typeface="Times"/>
              </a:rPr>
              <a:t>, complemented by </a:t>
            </a:r>
            <a:r>
              <a:rPr lang="en-US" sz="2800" b="1">
                <a:latin typeface="Aptos"/>
                <a:ea typeface="MS PGothic"/>
                <a:cs typeface="Times"/>
              </a:rPr>
              <a:t>physiological driver monitoring</a:t>
            </a:r>
            <a:r>
              <a:rPr lang="en-US" sz="2800">
                <a:latin typeface="Aptos"/>
                <a:ea typeface="MS PGothic"/>
                <a:cs typeface="Times"/>
              </a:rPr>
              <a:t>. Results show that </a:t>
            </a:r>
            <a:r>
              <a:rPr lang="en-US" sz="2800" b="1">
                <a:latin typeface="Aptos"/>
                <a:ea typeface="MS PGothic"/>
                <a:cs typeface="Times"/>
              </a:rPr>
              <a:t>eco-routes</a:t>
            </a:r>
            <a:r>
              <a:rPr lang="en-US" sz="2800">
                <a:latin typeface="Aptos"/>
                <a:ea typeface="MS PGothic"/>
                <a:cs typeface="Times"/>
              </a:rPr>
              <a:t> generally </a:t>
            </a:r>
            <a:r>
              <a:rPr lang="en-US" sz="2800" b="1">
                <a:latin typeface="Aptos"/>
                <a:ea typeface="MS PGothic"/>
                <a:cs typeface="Times"/>
              </a:rPr>
              <a:t>reduce total fuel consumption and CO₂ emissions by 20–40%</a:t>
            </a:r>
            <a:r>
              <a:rPr lang="en-US" sz="2800">
                <a:latin typeface="Aptos"/>
                <a:ea typeface="MS PGothic"/>
                <a:cs typeface="Times"/>
              </a:rPr>
              <a:t>, aligning well with </a:t>
            </a:r>
            <a:r>
              <a:rPr lang="en-US" sz="2800" b="1">
                <a:latin typeface="Aptos"/>
                <a:ea typeface="MS PGothic"/>
                <a:cs typeface="Times"/>
              </a:rPr>
              <a:t>Google Maps estimates</a:t>
            </a:r>
            <a:r>
              <a:rPr lang="en-US" sz="2800">
                <a:latin typeface="Aptos"/>
                <a:ea typeface="MS PGothic"/>
                <a:cs typeface="Times"/>
              </a:rPr>
              <a:t>. However, many </a:t>
            </a:r>
            <a:r>
              <a:rPr lang="en-US" sz="2800" b="1">
                <a:latin typeface="Aptos"/>
                <a:ea typeface="MS PGothic"/>
                <a:cs typeface="Times"/>
              </a:rPr>
              <a:t>eco-routes</a:t>
            </a:r>
            <a:r>
              <a:rPr lang="en-US" sz="2800">
                <a:latin typeface="Aptos"/>
                <a:ea typeface="MS PGothic"/>
                <a:cs typeface="Times"/>
              </a:rPr>
              <a:t> follow </a:t>
            </a:r>
            <a:r>
              <a:rPr lang="en-US" sz="2800" b="1">
                <a:latin typeface="Aptos"/>
                <a:ea typeface="MS PGothic"/>
                <a:cs typeface="Times"/>
              </a:rPr>
              <a:t>shorter secondary roads</a:t>
            </a:r>
            <a:r>
              <a:rPr lang="en-US" sz="2800">
                <a:latin typeface="Aptos"/>
                <a:ea typeface="MS PGothic"/>
                <a:cs typeface="Times"/>
              </a:rPr>
              <a:t> where </a:t>
            </a:r>
            <a:r>
              <a:rPr lang="en-US" sz="2800" b="1">
                <a:latin typeface="Aptos"/>
                <a:ea typeface="MS PGothic"/>
                <a:cs typeface="Times"/>
              </a:rPr>
              <a:t>emissions per distance increase</a:t>
            </a:r>
            <a:r>
              <a:rPr lang="en-US" sz="2800">
                <a:latin typeface="Aptos"/>
                <a:ea typeface="MS PGothic"/>
                <a:cs typeface="Times"/>
              </a:rPr>
              <a:t>, even though </a:t>
            </a:r>
            <a:r>
              <a:rPr lang="en-US" sz="2800" b="1">
                <a:latin typeface="Aptos"/>
                <a:ea typeface="MS PGothic"/>
                <a:cs typeface="Times"/>
              </a:rPr>
              <a:t>total trip emissions remain lower</a:t>
            </a:r>
            <a:r>
              <a:rPr lang="en-US" sz="2800">
                <a:latin typeface="Aptos"/>
                <a:ea typeface="MS PGothic"/>
                <a:cs typeface="Times"/>
              </a:rPr>
              <a:t>. </a:t>
            </a:r>
            <a:r>
              <a:rPr lang="en-US" sz="2800" b="1">
                <a:latin typeface="Aptos"/>
                <a:ea typeface="MS PGothic"/>
                <a:cs typeface="Times"/>
              </a:rPr>
              <a:t>Heart rate</a:t>
            </a:r>
            <a:r>
              <a:rPr lang="en-US" sz="2800">
                <a:latin typeface="Aptos"/>
                <a:ea typeface="MS PGothic"/>
                <a:cs typeface="Times"/>
              </a:rPr>
              <a:t> and </a:t>
            </a:r>
            <a:r>
              <a:rPr lang="en-US" sz="2800" b="1">
                <a:latin typeface="Aptos"/>
                <a:ea typeface="MS PGothic"/>
                <a:cs typeface="Times"/>
              </a:rPr>
              <a:t>vehicular jerk analyses</a:t>
            </a:r>
            <a:r>
              <a:rPr lang="en-US" sz="2800">
                <a:latin typeface="Aptos"/>
                <a:ea typeface="MS PGothic"/>
                <a:cs typeface="Times"/>
              </a:rPr>
              <a:t> indicated </a:t>
            </a:r>
            <a:r>
              <a:rPr lang="en-US" sz="2800" b="1">
                <a:latin typeface="Aptos"/>
                <a:ea typeface="MS PGothic"/>
                <a:cs typeface="Times"/>
              </a:rPr>
              <a:t>slightly higher physiological demand</a:t>
            </a:r>
            <a:r>
              <a:rPr lang="en-US" sz="2800">
                <a:latin typeface="Aptos"/>
                <a:ea typeface="MS PGothic"/>
                <a:cs typeface="Times"/>
              </a:rPr>
              <a:t> and </a:t>
            </a:r>
            <a:r>
              <a:rPr lang="en-US" sz="2800" b="1">
                <a:latin typeface="Aptos"/>
                <a:ea typeface="MS PGothic"/>
                <a:cs typeface="Times"/>
              </a:rPr>
              <a:t>reduced comfort</a:t>
            </a:r>
            <a:r>
              <a:rPr lang="en-US" sz="2800">
                <a:latin typeface="Aptos"/>
                <a:ea typeface="MS PGothic"/>
                <a:cs typeface="Times"/>
              </a:rPr>
              <a:t> on </a:t>
            </a:r>
            <a:r>
              <a:rPr lang="en-US" sz="2800" b="1">
                <a:latin typeface="Aptos"/>
                <a:ea typeface="MS PGothic"/>
                <a:cs typeface="Times"/>
              </a:rPr>
              <a:t>intercity and regional eco-routes</a:t>
            </a:r>
            <a:r>
              <a:rPr lang="en-US" sz="2800">
                <a:latin typeface="Aptos"/>
                <a:ea typeface="MS PGothic"/>
                <a:cs typeface="Times"/>
              </a:rPr>
              <a:t>, while </a:t>
            </a:r>
            <a:r>
              <a:rPr lang="en-US" sz="2800" b="1">
                <a:latin typeface="Aptos"/>
                <a:ea typeface="MS PGothic"/>
                <a:cs typeface="Times"/>
              </a:rPr>
              <a:t>urban routes performed better</a:t>
            </a:r>
            <a:r>
              <a:rPr lang="en-US" sz="2800">
                <a:latin typeface="Aptos"/>
                <a:ea typeface="MS PGothic"/>
                <a:cs typeface="Times"/>
              </a:rPr>
              <a:t>. Overall, </a:t>
            </a:r>
            <a:r>
              <a:rPr lang="en-US" sz="2800" b="1">
                <a:latin typeface="Aptos"/>
                <a:ea typeface="MS PGothic"/>
                <a:cs typeface="Times"/>
              </a:rPr>
              <a:t>eco-routing</a:t>
            </a:r>
            <a:r>
              <a:rPr lang="en-US" sz="2800">
                <a:latin typeface="Aptos"/>
                <a:ea typeface="MS PGothic"/>
                <a:cs typeface="Times"/>
              </a:rPr>
              <a:t> effectively </a:t>
            </a:r>
            <a:r>
              <a:rPr lang="en-US" sz="2800" b="1">
                <a:latin typeface="Aptos"/>
                <a:ea typeface="MS PGothic"/>
                <a:cs typeface="Times"/>
              </a:rPr>
              <a:t>lowers total  GHG emissions</a:t>
            </a:r>
            <a:r>
              <a:rPr lang="en-US" sz="2800">
                <a:latin typeface="Aptos"/>
                <a:ea typeface="MS PGothic"/>
                <a:cs typeface="Times"/>
              </a:rPr>
              <a:t> but may and cause greater local impacts in terms of exposure to air pollutants in specific situations and </a:t>
            </a:r>
            <a:r>
              <a:rPr lang="en-US" sz="2800" b="1">
                <a:latin typeface="Aptos"/>
                <a:ea typeface="MS PGothic"/>
                <a:cs typeface="Times"/>
              </a:rPr>
              <a:t>shift environmental and comfort burdens</a:t>
            </a:r>
            <a:r>
              <a:rPr lang="en-US" sz="2800">
                <a:latin typeface="Aptos"/>
                <a:ea typeface="MS PGothic"/>
                <a:cs typeface="Times"/>
              </a:rPr>
              <a:t>. </a:t>
            </a:r>
            <a:r>
              <a:rPr lang="en-US" sz="2800" b="1">
                <a:latin typeface="Aptos"/>
                <a:ea typeface="MS PGothic"/>
                <a:cs typeface="Times"/>
              </a:rPr>
              <a:t>Future systems</a:t>
            </a:r>
            <a:r>
              <a:rPr lang="en-US" sz="2800">
                <a:latin typeface="Aptos"/>
                <a:ea typeface="MS PGothic"/>
                <a:cs typeface="Times"/>
              </a:rPr>
              <a:t> should adopt </a:t>
            </a:r>
            <a:r>
              <a:rPr lang="en-US" sz="2800" b="1">
                <a:latin typeface="Aptos"/>
                <a:ea typeface="MS PGothic"/>
                <a:cs typeface="Times"/>
              </a:rPr>
              <a:t>multi-objective optimization</a:t>
            </a:r>
            <a:r>
              <a:rPr lang="en-US" sz="2800">
                <a:latin typeface="Aptos"/>
                <a:ea typeface="MS PGothic"/>
                <a:cs typeface="Times"/>
              </a:rPr>
              <a:t> balancing </a:t>
            </a:r>
            <a:r>
              <a:rPr lang="en-US" sz="2800" b="1">
                <a:latin typeface="Aptos"/>
                <a:ea typeface="MS PGothic"/>
                <a:cs typeface="Times"/>
              </a:rPr>
              <a:t>efficiency</a:t>
            </a:r>
            <a:r>
              <a:rPr lang="en-US" sz="2800">
                <a:latin typeface="Aptos"/>
                <a:ea typeface="MS PGothic"/>
                <a:cs typeface="Times"/>
              </a:rPr>
              <a:t>, </a:t>
            </a:r>
            <a:r>
              <a:rPr lang="en-US" sz="2800" b="1">
                <a:latin typeface="Aptos"/>
                <a:ea typeface="MS PGothic"/>
                <a:cs typeface="Times"/>
              </a:rPr>
              <a:t>local impacts</a:t>
            </a:r>
            <a:r>
              <a:rPr lang="en-US" sz="2800">
                <a:latin typeface="Aptos"/>
                <a:ea typeface="MS PGothic"/>
                <a:cs typeface="Times"/>
              </a:rPr>
              <a:t>, and </a:t>
            </a:r>
            <a:r>
              <a:rPr lang="en-US" sz="2800" b="1">
                <a:latin typeface="Aptos"/>
                <a:ea typeface="MS PGothic"/>
                <a:cs typeface="Times"/>
              </a:rPr>
              <a:t>driver well-being</a:t>
            </a:r>
            <a:r>
              <a:rPr lang="en-US" sz="2800">
                <a:latin typeface="Aptos"/>
                <a:ea typeface="MS PGothic"/>
                <a:cs typeface="Times"/>
              </a:rPr>
              <a:t>.</a:t>
            </a:r>
            <a:endParaRPr lang="en-US">
              <a:latin typeface="Aptos"/>
              <a:cs typeface="Times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0E920460-E251-8535-7C25-1380E5A48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6952" y="5933637"/>
            <a:ext cx="5793003" cy="579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PT" sz="2800" b="1">
                <a:solidFill>
                  <a:schemeClr val="tx2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cs typeface="Calibri" panose="020F0502020204030204" pitchFamily="34" charset="0"/>
              </a:rPr>
              <a:t>Methodology</a:t>
            </a:r>
            <a:endParaRPr lang="en-US" altLang="pt-PT" sz="2800">
              <a:solidFill>
                <a:schemeClr val="tx2">
                  <a:lumMod val="90000"/>
                  <a:lumOff val="10000"/>
                </a:schemeClr>
              </a:solidFill>
              <a:latin typeface="Aptos Display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651AF431-4A0A-885F-1AB9-0907AE70B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460" y="14455785"/>
            <a:ext cx="12778178" cy="9642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PT" sz="2800" b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MS PGothic"/>
                <a:cs typeface="Calibri"/>
              </a:rPr>
              <a:t>Preliminary results</a:t>
            </a:r>
          </a:p>
          <a:p>
            <a:pPr>
              <a:buFont typeface="Arial"/>
              <a:buChar char="•"/>
            </a:pPr>
            <a:r>
              <a:rPr lang="en-US" sz="2800" b="1">
                <a:latin typeface="Aptos"/>
                <a:ea typeface="MS PGothic"/>
                <a:cs typeface="Times"/>
              </a:rPr>
              <a:t>Case Study – University of Aveiro ↔ </a:t>
            </a:r>
            <a:r>
              <a:rPr lang="en-US" sz="2800" b="1" err="1">
                <a:latin typeface="Aptos"/>
                <a:ea typeface="MS PGothic"/>
                <a:cs typeface="Times"/>
              </a:rPr>
              <a:t>Ílhavo</a:t>
            </a:r>
            <a:r>
              <a:rPr lang="en-US" sz="2800" b="1">
                <a:latin typeface="Aptos"/>
                <a:ea typeface="MS PGothic"/>
                <a:cs typeface="Times"/>
              </a:rPr>
              <a:t> Route</a:t>
            </a:r>
            <a:br>
              <a:rPr lang="en-US" sz="2800" b="1">
                <a:latin typeface="Aptos"/>
                <a:ea typeface="MS PGothic"/>
                <a:cs typeface="Times"/>
              </a:rPr>
            </a:br>
            <a:r>
              <a:rPr lang="en-US" sz="2800" b="1">
                <a:latin typeface="Aptos"/>
                <a:ea typeface="MS PGothic"/>
                <a:cs typeface="Times"/>
              </a:rPr>
              <a:t> Combination of urban and rural segments to simulate realistic commuting conditions.</a:t>
            </a:r>
            <a:endParaRPr lang="en-US" sz="9600" b="1">
              <a:latin typeface="Aptos"/>
              <a:cs typeface="Times"/>
            </a:endParaRPr>
          </a:p>
          <a:p>
            <a:pPr>
              <a:buFont typeface="Arial"/>
            </a:pPr>
            <a:r>
              <a:rPr lang="en-US" sz="2800" b="1">
                <a:latin typeface="Aptos"/>
                <a:ea typeface="MS PGothic"/>
                <a:cs typeface="Times"/>
              </a:rPr>
              <a:t>Estimated eco-routing benefits (Google Maps):</a:t>
            </a:r>
            <a:endParaRPr lang="en-US" sz="2800" b="1">
              <a:latin typeface="Aptos"/>
              <a:cs typeface="Times"/>
            </a:endParaRPr>
          </a:p>
          <a:p>
            <a:pPr lvl="1">
              <a:buFont typeface="Arial"/>
              <a:buChar char="•"/>
            </a:pPr>
            <a:r>
              <a:rPr lang="en-US" sz="2400">
                <a:latin typeface="Aptos"/>
                <a:ea typeface="MS PGothic"/>
                <a:cs typeface="Times"/>
              </a:rPr>
              <a:t>Diesel: ~24% fuel reduction (Fig. 1)</a:t>
            </a:r>
            <a:endParaRPr lang="en-US" sz="2400">
              <a:latin typeface="Aptos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400">
                <a:latin typeface="Aptos"/>
                <a:ea typeface="MS PGothic"/>
                <a:cs typeface="Times"/>
              </a:rPr>
              <a:t>Hybrid: ~33% fuel reduction (Fig. 2)</a:t>
            </a:r>
            <a:endParaRPr lang="en-US" sz="2400">
              <a:latin typeface="Aptos"/>
              <a:cs typeface="Calibri"/>
            </a:endParaRPr>
          </a:p>
          <a:p>
            <a:pPr>
              <a:buFont typeface="Arial"/>
            </a:pPr>
            <a:r>
              <a:rPr lang="en-US" sz="2800" b="1">
                <a:latin typeface="Aptos"/>
                <a:ea typeface="MS PGothic"/>
                <a:cs typeface="Times"/>
              </a:rPr>
              <a:t>Experimental results:</a:t>
            </a:r>
            <a:endParaRPr lang="en-US" b="1">
              <a:latin typeface="Aptos"/>
              <a:cs typeface="Times"/>
            </a:endParaRPr>
          </a:p>
          <a:p>
            <a:pPr lvl="1">
              <a:buFont typeface="Arial"/>
              <a:buChar char="•"/>
            </a:pPr>
            <a:r>
              <a:rPr lang="en-US" sz="2400">
                <a:latin typeface="Aptos"/>
                <a:ea typeface="MS PGothic"/>
                <a:cs typeface="Times"/>
              </a:rPr>
              <a:t>CO₂, CO, NOx, and HC emissions 20–30% lower on the eco-route, consistent with Google Maps estimates.</a:t>
            </a:r>
            <a:endParaRPr lang="en-US" sz="2400">
              <a:latin typeface="Aptos"/>
              <a:cs typeface="Times"/>
            </a:endParaRPr>
          </a:p>
          <a:p>
            <a:pPr lvl="1">
              <a:buFont typeface="Arial"/>
              <a:buChar char="•"/>
            </a:pPr>
            <a:r>
              <a:rPr lang="en-US" sz="2400">
                <a:latin typeface="Aptos"/>
                <a:ea typeface="MS PGothic"/>
                <a:cs typeface="Times"/>
              </a:rPr>
              <a:t>When normalized per kilometer, emissions were higher on the eco-route (Figs. 5–8).</a:t>
            </a:r>
            <a:endParaRPr lang="en-US" sz="2400">
              <a:latin typeface="Aptos"/>
              <a:cs typeface="Times"/>
            </a:endParaRPr>
          </a:p>
          <a:p>
            <a:pPr lvl="1">
              <a:buFont typeface="Arial"/>
              <a:buChar char="•"/>
            </a:pPr>
            <a:r>
              <a:rPr lang="en-US" sz="2400">
                <a:latin typeface="Aptos"/>
                <a:ea typeface="MS PGothic"/>
                <a:cs typeface="Times"/>
              </a:rPr>
              <a:t>Overall, the eco-route achieved the lowest total emissions.</a:t>
            </a:r>
            <a:endParaRPr lang="en-US" sz="2400">
              <a:latin typeface="Aptos"/>
              <a:cs typeface="Times"/>
            </a:endParaRPr>
          </a:p>
          <a:p>
            <a:pPr>
              <a:buFont typeface="Arial"/>
            </a:pPr>
            <a:r>
              <a:rPr lang="en-US" sz="2800" b="1">
                <a:latin typeface="Aptos"/>
                <a:ea typeface="MS PGothic"/>
                <a:cs typeface="Times"/>
              </a:rPr>
              <a:t>Electric vehicle (EV) analysis:</a:t>
            </a:r>
            <a:endParaRPr lang="en-US" b="1">
              <a:latin typeface="Aptos"/>
              <a:cs typeface="Times"/>
            </a:endParaRPr>
          </a:p>
          <a:p>
            <a:pPr lvl="1">
              <a:buFont typeface="Arial"/>
              <a:buChar char="•"/>
            </a:pPr>
            <a:r>
              <a:rPr lang="en-US" sz="2400">
                <a:latin typeface="Aptos"/>
                <a:ea typeface="MS PGothic"/>
                <a:cs typeface="Times"/>
              </a:rPr>
              <a:t>Identified the route with minimum energy use, confirming eco-routing efficiency for EVs.</a:t>
            </a:r>
            <a:endParaRPr lang="en-US" sz="2400">
              <a:latin typeface="Aptos"/>
              <a:cs typeface="Times"/>
            </a:endParaRPr>
          </a:p>
          <a:p>
            <a:pPr>
              <a:buFont typeface="Arial"/>
            </a:pPr>
            <a:r>
              <a:rPr lang="en-US" sz="2800" b="1">
                <a:latin typeface="Aptos"/>
                <a:ea typeface="MS PGothic"/>
                <a:cs typeface="Times"/>
              </a:rPr>
              <a:t>Physiological evaluation:</a:t>
            </a:r>
            <a:endParaRPr lang="en-US" b="1">
              <a:latin typeface="Aptos"/>
              <a:cs typeface="Times"/>
            </a:endParaRPr>
          </a:p>
          <a:p>
            <a:pPr lvl="1">
              <a:buFont typeface="Arial"/>
              <a:buChar char="•"/>
            </a:pPr>
            <a:r>
              <a:rPr lang="en-US" sz="2400">
                <a:latin typeface="Aptos"/>
                <a:ea typeface="MS PGothic"/>
                <a:cs typeface="Times"/>
              </a:rPr>
              <a:t>Driver heart rate (smartwatch) slightly higher on the eco-route, possibly due to driving style, traffic, or route familiarity (Figs. 3–4).</a:t>
            </a:r>
            <a:endParaRPr lang="en-US" sz="2400">
              <a:latin typeface="Aptos"/>
              <a:cs typeface="Times"/>
            </a:endParaRPr>
          </a:p>
          <a:p>
            <a:pPr lvl="1">
              <a:buFont typeface="Arial"/>
              <a:buChar char="•"/>
            </a:pPr>
            <a:r>
              <a:rPr lang="en-US" sz="2400">
                <a:latin typeface="Aptos"/>
                <a:ea typeface="Calibri"/>
                <a:cs typeface="Calibri"/>
              </a:rPr>
              <a:t>Vehicular jerk analysis showed that eco-routes nearly doubled the frequency of comfort threshold violations (&lt; –0.95 or &gt; 0.9 m/s³) per distance unit on intercity and regional routes, but fewer in urban areas.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Font typeface="Arial"/>
              <a:buChar char="•"/>
            </a:pPr>
            <a:endParaRPr lang="en-US" altLang="pt-PT" sz="2800">
              <a:latin typeface="Aptos Display"/>
              <a:ea typeface="MS PGothic"/>
              <a:cs typeface="Calibri"/>
            </a:endParaRPr>
          </a:p>
        </p:txBody>
      </p:sp>
      <p:sp>
        <p:nvSpPr>
          <p:cNvPr id="13" name="Rectângulo 44">
            <a:extLst>
              <a:ext uri="{FF2B5EF4-FFF2-40B4-BE49-F238E27FC236}">
                <a16:creationId xmlns:a16="http://schemas.microsoft.com/office/drawing/2014/main" id="{B7F5DFA2-E3DA-9150-7F9B-6B03181FC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5965" y="13658865"/>
            <a:ext cx="46935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PT" sz="2400" i="1">
                <a:latin typeface="Aptos Display" panose="020B0004020202020204" pitchFamily="34" charset="0"/>
                <a:cs typeface="Calibri" panose="020F0502020204030204" pitchFamily="34" charset="0"/>
              </a:rPr>
              <a:t>Fig.1- Estimations provided by Google Maps – Hybrid </a:t>
            </a:r>
            <a:endParaRPr lang="pt-PT" altLang="pt-PT" sz="2400" i="1">
              <a:latin typeface="Aptos Display" panose="020B00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Imagem 13" descr="Uma imagem com texto, captura de ecrã, mapa&#10;&#10;Os conteúdos gerados por IA podem estar incorretos.">
            <a:extLst>
              <a:ext uri="{FF2B5EF4-FFF2-40B4-BE49-F238E27FC236}">
                <a16:creationId xmlns:a16="http://schemas.microsoft.com/office/drawing/2014/main" id="{941D715D-3AA5-88F8-048C-F29D88DD6A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5316" y="5955047"/>
            <a:ext cx="4120463" cy="7465899"/>
          </a:xfrm>
          <a:prstGeom prst="rect">
            <a:avLst/>
          </a:prstGeom>
        </p:spPr>
      </p:pic>
      <p:pic>
        <p:nvPicPr>
          <p:cNvPr id="15" name="Imagem 14" descr="Uma imagem com texto, captura de ecrã, mapa&#10;&#10;Os conteúdos gerados por IA podem estar incorretos.">
            <a:extLst>
              <a:ext uri="{FF2B5EF4-FFF2-40B4-BE49-F238E27FC236}">
                <a16:creationId xmlns:a16="http://schemas.microsoft.com/office/drawing/2014/main" id="{BE4AE2D2-217F-A99A-2978-CD12533B2A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092" y="5955048"/>
            <a:ext cx="4123542" cy="7465898"/>
          </a:xfrm>
          <a:prstGeom prst="rect">
            <a:avLst/>
          </a:prstGeom>
        </p:spPr>
      </p:pic>
      <p:sp>
        <p:nvSpPr>
          <p:cNvPr id="16" name="Rectângulo 44">
            <a:extLst>
              <a:ext uri="{FF2B5EF4-FFF2-40B4-BE49-F238E27FC236}">
                <a16:creationId xmlns:a16="http://schemas.microsoft.com/office/drawing/2014/main" id="{6CC4519F-3090-A9EE-A994-07D6C540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9100" y="13656870"/>
            <a:ext cx="46935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PT" sz="2400" i="1">
                <a:latin typeface="Aptos Display" panose="020B0004020202020204" pitchFamily="34" charset="0"/>
                <a:cs typeface="Calibri" panose="020F0502020204030204" pitchFamily="34" charset="0"/>
              </a:rPr>
              <a:t>Fig. 2 - Estimations provided by Google Maps – Diesel</a:t>
            </a:r>
            <a:endParaRPr lang="pt-PT" altLang="pt-PT" sz="2400" i="1">
              <a:latin typeface="Aptos Display" panose="020B00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Imagem 17" descr="Uma imagem com texto, mapa, captura de ecrã, atlas&#10;&#10;Os conteúdos gerados por IA podem estar incorretos.">
            <a:extLst>
              <a:ext uri="{FF2B5EF4-FFF2-40B4-BE49-F238E27FC236}">
                <a16:creationId xmlns:a16="http://schemas.microsoft.com/office/drawing/2014/main" id="{9F6ECF62-55B2-1985-1D18-0EBAFE5901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2661" y="14758544"/>
            <a:ext cx="3584472" cy="752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m 18" descr="Uma imagem com texto, mapa, captura de ecrã&#10;&#10;Os conteúdos gerados por IA podem estar incorretos.">
            <a:extLst>
              <a:ext uri="{FF2B5EF4-FFF2-40B4-BE49-F238E27FC236}">
                <a16:creationId xmlns:a16="http://schemas.microsoft.com/office/drawing/2014/main" id="{D2F8CDD7-CA46-084D-75A5-E43E77F779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3627" y="14638974"/>
            <a:ext cx="3584472" cy="752488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Rectângulo 44">
            <a:extLst>
              <a:ext uri="{FF2B5EF4-FFF2-40B4-BE49-F238E27FC236}">
                <a16:creationId xmlns:a16="http://schemas.microsoft.com/office/drawing/2014/main" id="{5BA50360-B660-B790-11C6-F9DFF66D5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9116" y="22397237"/>
            <a:ext cx="46935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PT" sz="2400" i="1">
                <a:latin typeface="Aptos Display" panose="020B0004020202020204" pitchFamily="34" charset="0"/>
                <a:cs typeface="Calibri" panose="020F0502020204030204" pitchFamily="34" charset="0"/>
              </a:rPr>
              <a:t>Fig.3-Heartrate during the eco-route</a:t>
            </a:r>
            <a:endParaRPr lang="pt-PT" altLang="pt-PT" sz="2400" i="1">
              <a:latin typeface="Aptos Display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ângulo 44">
            <a:extLst>
              <a:ext uri="{FF2B5EF4-FFF2-40B4-BE49-F238E27FC236}">
                <a16:creationId xmlns:a16="http://schemas.microsoft.com/office/drawing/2014/main" id="{52568259-77D6-7635-AED4-63CCAC4FB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2642" y="22431087"/>
            <a:ext cx="46935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PT" sz="2400" i="1">
                <a:latin typeface="Aptos Display" panose="020B0004020202020204" pitchFamily="34" charset="0"/>
                <a:cs typeface="Calibri" panose="020F0502020204030204" pitchFamily="34" charset="0"/>
              </a:rPr>
              <a:t>Fig.4- Heartrate during the alternative-route</a:t>
            </a:r>
            <a:endParaRPr lang="pt-PT" altLang="pt-PT" sz="2400" i="1">
              <a:latin typeface="Aptos Display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ângulo 44">
            <a:extLst>
              <a:ext uri="{FF2B5EF4-FFF2-40B4-BE49-F238E27FC236}">
                <a16:creationId xmlns:a16="http://schemas.microsoft.com/office/drawing/2014/main" id="{F8D9A0E6-6144-2683-73A7-B2C6AE168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882" y="29081118"/>
            <a:ext cx="68412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PT" sz="2400" i="1">
                <a:latin typeface="Aptos Display" panose="020B0004020202020204" pitchFamily="34" charset="0"/>
                <a:cs typeface="Calibri" panose="020F0502020204030204" pitchFamily="34" charset="0"/>
              </a:rPr>
              <a:t>Fig.5 – CO</a:t>
            </a:r>
            <a:r>
              <a:rPr lang="en-US" altLang="pt-PT" sz="2400" i="1" baseline="-25000">
                <a:latin typeface="Aptos Display" panose="020B0004020202020204" pitchFamily="34" charset="0"/>
                <a:cs typeface="Calibri" panose="020F0502020204030204" pitchFamily="34" charset="0"/>
              </a:rPr>
              <a:t>2  </a:t>
            </a:r>
            <a:r>
              <a:rPr lang="en-US" altLang="pt-PT" sz="2400" i="1">
                <a:latin typeface="Aptos Display" panose="020B0004020202020204" pitchFamily="34" charset="0"/>
                <a:cs typeface="Calibri" panose="020F0502020204030204" pitchFamily="34" charset="0"/>
              </a:rPr>
              <a:t> Emissions    </a:t>
            </a:r>
            <a:endParaRPr lang="pt-PT" altLang="pt-PT" sz="2400" i="1">
              <a:latin typeface="Aptos Display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ângulo 44">
            <a:extLst>
              <a:ext uri="{FF2B5EF4-FFF2-40B4-BE49-F238E27FC236}">
                <a16:creationId xmlns:a16="http://schemas.microsoft.com/office/drawing/2014/main" id="{795B5152-B05F-B54D-984A-5032C7F12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35241" y="29091511"/>
            <a:ext cx="68412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PT" sz="2400" i="1">
                <a:latin typeface="Aptos Display" panose="020B0004020202020204" pitchFamily="34" charset="0"/>
                <a:cs typeface="Calibri" panose="020F0502020204030204" pitchFamily="34" charset="0"/>
              </a:rPr>
              <a:t>Fig.6 –CO Emissions</a:t>
            </a:r>
            <a:endParaRPr lang="pt-PT" altLang="pt-PT" sz="2400" i="1">
              <a:latin typeface="Aptos Display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ângulo 44">
            <a:extLst>
              <a:ext uri="{FF2B5EF4-FFF2-40B4-BE49-F238E27FC236}">
                <a16:creationId xmlns:a16="http://schemas.microsoft.com/office/drawing/2014/main" id="{B30BAFE5-AD93-2295-567B-13AC91D7A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590" y="35159144"/>
            <a:ext cx="68412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PT" sz="2400" i="1">
                <a:latin typeface="Aptos Display"/>
                <a:ea typeface="MS PGothic"/>
                <a:cs typeface="Calibri"/>
              </a:rPr>
              <a:t>Fig.7 -  NOx Emissions</a:t>
            </a:r>
            <a:endParaRPr lang="pt-PT" altLang="pt-PT" sz="2400" i="1">
              <a:latin typeface="Aptos Display"/>
              <a:ea typeface="MS PGothic"/>
              <a:cs typeface="Calibri"/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F0B9712C-6901-D5A7-4133-8FBD22083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6520" y="36262518"/>
            <a:ext cx="10599354" cy="1696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PT" sz="2800" b="1">
                <a:solidFill>
                  <a:schemeClr val="tx2">
                    <a:lumMod val="90000"/>
                    <a:lumOff val="10000"/>
                  </a:schemeClr>
                </a:solidFill>
                <a:latin typeface="Aptos Display"/>
                <a:ea typeface="MS PGothic"/>
                <a:cs typeface="Calibri"/>
              </a:rPr>
              <a:t>References</a:t>
            </a: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PT" sz="2000">
                <a:latin typeface="Aptos Display"/>
                <a:ea typeface="MS PGothic"/>
                <a:cs typeface="Calibri"/>
              </a:rPr>
              <a:t>Bandeira, Jorge M., Claudio Guarnaccia, Paulo Fernandes, and Margarida C Coelho. 2018. “Advanced Impact Integration Platform for Cooperative Road Use.” International Journal of Intelligent Transportation Systems Research 16(1): 1–15. http://link.springer.com/10.1007/s13177-016-0133-z.</a:t>
            </a:r>
            <a:endParaRPr lang="en-US" altLang="pt-PT" sz="2000" b="1">
              <a:solidFill>
                <a:srgbClr val="6E0401"/>
              </a:solidFill>
              <a:latin typeface="Aptos Display"/>
              <a:ea typeface="MS PGothic"/>
              <a:cs typeface="Calibri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FE5BC40-55E2-C94F-1955-49359781F9EC}"/>
              </a:ext>
            </a:extLst>
          </p:cNvPr>
          <p:cNvSpPr/>
          <p:nvPr/>
        </p:nvSpPr>
        <p:spPr>
          <a:xfrm>
            <a:off x="6999338" y="6748198"/>
            <a:ext cx="4656914" cy="229051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800" b="1">
                <a:solidFill>
                  <a:schemeClr val="tx1"/>
                </a:solidFill>
              </a:rPr>
              <a:t>Real-</a:t>
            </a:r>
            <a:r>
              <a:rPr lang="pt-PT" sz="2800" b="1" err="1">
                <a:solidFill>
                  <a:schemeClr val="tx1"/>
                </a:solidFill>
              </a:rPr>
              <a:t>World</a:t>
            </a:r>
            <a:r>
              <a:rPr lang="pt-PT" sz="2800" b="1">
                <a:solidFill>
                  <a:schemeClr val="tx1"/>
                </a:solidFill>
              </a:rPr>
              <a:t> </a:t>
            </a:r>
            <a:r>
              <a:rPr lang="pt-PT" sz="2800" b="1" err="1">
                <a:solidFill>
                  <a:schemeClr val="tx1"/>
                </a:solidFill>
              </a:rPr>
              <a:t>Second-by-Second</a:t>
            </a:r>
            <a:r>
              <a:rPr lang="pt-PT" sz="2800" b="1">
                <a:solidFill>
                  <a:schemeClr val="tx1"/>
                </a:solidFill>
              </a:rPr>
              <a:t> Data </a:t>
            </a:r>
            <a:r>
              <a:rPr lang="pt-PT" sz="2800" b="1" err="1">
                <a:solidFill>
                  <a:schemeClr val="tx1"/>
                </a:solidFill>
              </a:rPr>
              <a:t>Collection</a:t>
            </a:r>
            <a:endParaRPr lang="pt-PT" sz="2800" b="1">
              <a:solidFill>
                <a:schemeClr val="tx1"/>
              </a:solidFill>
            </a:endParaRPr>
          </a:p>
          <a:p>
            <a:pPr algn="ctr"/>
            <a:endParaRPr lang="pt-PT" sz="28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err="1">
                <a:solidFill>
                  <a:schemeClr val="tx1"/>
                </a:solidFill>
              </a:rPr>
              <a:t>Different</a:t>
            </a:r>
            <a:r>
              <a:rPr lang="pt-PT" sz="2400">
                <a:solidFill>
                  <a:schemeClr val="tx1"/>
                </a:solidFill>
              </a:rPr>
              <a:t> </a:t>
            </a:r>
            <a:r>
              <a:rPr lang="pt-PT" sz="2400" err="1">
                <a:solidFill>
                  <a:schemeClr val="tx1"/>
                </a:solidFill>
              </a:rPr>
              <a:t>vehicle</a:t>
            </a:r>
            <a:r>
              <a:rPr lang="pt-PT" sz="2400">
                <a:solidFill>
                  <a:schemeClr val="tx1"/>
                </a:solidFill>
              </a:rPr>
              <a:t> </a:t>
            </a:r>
            <a:r>
              <a:rPr lang="pt-PT" sz="2400" err="1">
                <a:solidFill>
                  <a:schemeClr val="tx1"/>
                </a:solidFill>
              </a:rPr>
              <a:t>technologies</a:t>
            </a:r>
            <a:endParaRPr lang="pt-PT" sz="2400">
              <a:solidFill>
                <a:schemeClr val="tx1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31A17DA-C08D-5BBB-58B9-817BE1E1BF73}"/>
              </a:ext>
            </a:extLst>
          </p:cNvPr>
          <p:cNvSpPr/>
          <p:nvPr/>
        </p:nvSpPr>
        <p:spPr>
          <a:xfrm>
            <a:off x="7642826" y="9600512"/>
            <a:ext cx="4019241" cy="228644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800" b="1" err="1">
                <a:solidFill>
                  <a:schemeClr val="tx1"/>
                </a:solidFill>
              </a:rPr>
              <a:t>Vehicle</a:t>
            </a:r>
            <a:r>
              <a:rPr lang="pt-PT" sz="2800" b="1">
                <a:solidFill>
                  <a:schemeClr val="tx1"/>
                </a:solidFill>
              </a:rPr>
              <a:t> </a:t>
            </a:r>
            <a:r>
              <a:rPr lang="pt-PT" sz="2800" b="1" err="1">
                <a:solidFill>
                  <a:schemeClr val="tx1"/>
                </a:solidFill>
              </a:rPr>
              <a:t>Instrumentation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>
                <a:solidFill>
                  <a:schemeClr val="tx1"/>
                </a:solidFill>
              </a:rPr>
              <a:t>PEMS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>
                <a:solidFill>
                  <a:schemeClr val="tx1"/>
                </a:solidFill>
              </a:rPr>
              <a:t>GPS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>
                <a:solidFill>
                  <a:schemeClr val="tx1"/>
                </a:solidFill>
              </a:rPr>
              <a:t>OBD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9E8D32C-F36D-2BBA-1ABE-97FC69FF5C0D}"/>
              </a:ext>
            </a:extLst>
          </p:cNvPr>
          <p:cNvSpPr/>
          <p:nvPr/>
        </p:nvSpPr>
        <p:spPr>
          <a:xfrm>
            <a:off x="8113336" y="12490139"/>
            <a:ext cx="4120463" cy="142145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800" b="1" err="1">
                <a:solidFill>
                  <a:schemeClr val="tx1"/>
                </a:solidFill>
              </a:rPr>
              <a:t>Development</a:t>
            </a:r>
            <a:r>
              <a:rPr lang="pt-PT" sz="2800" b="1">
                <a:solidFill>
                  <a:schemeClr val="tx1"/>
                </a:solidFill>
              </a:rPr>
              <a:t> </a:t>
            </a:r>
            <a:r>
              <a:rPr lang="pt-PT" sz="2800" b="1" err="1">
                <a:solidFill>
                  <a:schemeClr val="tx1"/>
                </a:solidFill>
              </a:rPr>
              <a:t>of</a:t>
            </a:r>
            <a:r>
              <a:rPr lang="pt-PT" sz="2800" b="1">
                <a:solidFill>
                  <a:schemeClr val="tx1"/>
                </a:solidFill>
              </a:rPr>
              <a:t>  </a:t>
            </a:r>
            <a:r>
              <a:rPr lang="pt-PT" sz="2800" b="1" err="1">
                <a:solidFill>
                  <a:schemeClr val="tx1"/>
                </a:solidFill>
              </a:rPr>
              <a:t>Vehicle-Specific</a:t>
            </a:r>
            <a:r>
              <a:rPr lang="pt-PT" sz="2800" b="1">
                <a:solidFill>
                  <a:schemeClr val="tx1"/>
                </a:solidFill>
              </a:rPr>
              <a:t> </a:t>
            </a:r>
            <a:r>
              <a:rPr lang="pt-PT" sz="2800" b="1" err="1">
                <a:solidFill>
                  <a:schemeClr val="tx1"/>
                </a:solidFill>
              </a:rPr>
              <a:t>Emssion</a:t>
            </a:r>
            <a:r>
              <a:rPr lang="pt-PT" sz="2800" b="1">
                <a:solidFill>
                  <a:schemeClr val="tx1"/>
                </a:solidFill>
              </a:rPr>
              <a:t> </a:t>
            </a:r>
            <a:r>
              <a:rPr lang="pt-PT" sz="2800" b="1" err="1">
                <a:solidFill>
                  <a:schemeClr val="tx1"/>
                </a:solidFill>
              </a:rPr>
              <a:t>Factor</a:t>
            </a:r>
            <a:endParaRPr lang="pt-PT" sz="2800" b="1">
              <a:solidFill>
                <a:schemeClr val="tx1"/>
              </a:solidFill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DD80EB8-A994-B264-84C2-BDDB0D02F70C}"/>
              </a:ext>
            </a:extLst>
          </p:cNvPr>
          <p:cNvSpPr/>
          <p:nvPr/>
        </p:nvSpPr>
        <p:spPr>
          <a:xfrm>
            <a:off x="12786931" y="7251313"/>
            <a:ext cx="3938110" cy="150785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chemeClr val="tx1"/>
                </a:solidFill>
              </a:rPr>
              <a:t>Trip </a:t>
            </a:r>
            <a:r>
              <a:rPr lang="pt-PT" sz="2800" b="1" err="1">
                <a:solidFill>
                  <a:schemeClr val="tx1"/>
                </a:solidFill>
              </a:rPr>
              <a:t>replication</a:t>
            </a:r>
            <a:endParaRPr lang="pt-PT" sz="2800" b="1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err="1">
                <a:solidFill>
                  <a:schemeClr val="tx1"/>
                </a:solidFill>
              </a:rPr>
              <a:t>Ensure</a:t>
            </a:r>
            <a:r>
              <a:rPr lang="pt-PT" sz="2400">
                <a:solidFill>
                  <a:schemeClr val="tx1"/>
                </a:solidFill>
              </a:rPr>
              <a:t> </a:t>
            </a:r>
            <a:r>
              <a:rPr lang="pt-PT" sz="2400" err="1">
                <a:solidFill>
                  <a:schemeClr val="tx1"/>
                </a:solidFill>
              </a:rPr>
              <a:t>robustness</a:t>
            </a:r>
            <a:endParaRPr lang="pt-PT" sz="2400">
              <a:solidFill>
                <a:schemeClr val="tx1"/>
              </a:solidFill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4C0BAD6-6016-0AF1-2951-110B8E77E981}"/>
              </a:ext>
            </a:extLst>
          </p:cNvPr>
          <p:cNvSpPr/>
          <p:nvPr/>
        </p:nvSpPr>
        <p:spPr>
          <a:xfrm>
            <a:off x="12851660" y="9366379"/>
            <a:ext cx="6267649" cy="215548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800" b="1" dirty="0" err="1">
                <a:solidFill>
                  <a:schemeClr val="tx1"/>
                </a:solidFill>
              </a:rPr>
              <a:t>Modelling</a:t>
            </a:r>
            <a:r>
              <a:rPr lang="pt-PT" sz="2800" b="1" dirty="0">
                <a:solidFill>
                  <a:schemeClr val="tx1"/>
                </a:solidFill>
              </a:rPr>
              <a:t>  </a:t>
            </a:r>
            <a:r>
              <a:rPr lang="pt-PT" sz="2800" b="1" dirty="0" err="1">
                <a:solidFill>
                  <a:schemeClr val="tx1"/>
                </a:solidFill>
              </a:rPr>
              <a:t>through</a:t>
            </a:r>
            <a:r>
              <a:rPr lang="pt-PT" sz="2800" b="1" dirty="0">
                <a:solidFill>
                  <a:schemeClr val="tx1"/>
                </a:solidFill>
              </a:rPr>
              <a:t> </a:t>
            </a:r>
            <a:r>
              <a:rPr lang="pt-PT" sz="2800" b="1" dirty="0" err="1">
                <a:solidFill>
                  <a:schemeClr val="tx1"/>
                </a:solidFill>
              </a:rPr>
              <a:t>Vehicle</a:t>
            </a:r>
            <a:r>
              <a:rPr lang="pt-PT" sz="2800" b="1" dirty="0">
                <a:solidFill>
                  <a:schemeClr val="tx1"/>
                </a:solidFill>
              </a:rPr>
              <a:t> </a:t>
            </a:r>
            <a:r>
              <a:rPr lang="pt-PT" sz="2800" b="1" dirty="0" err="1">
                <a:solidFill>
                  <a:schemeClr val="tx1"/>
                </a:solidFill>
              </a:rPr>
              <a:t>Specific</a:t>
            </a:r>
            <a:r>
              <a:rPr lang="pt-PT" sz="2800" b="1" dirty="0">
                <a:solidFill>
                  <a:schemeClr val="tx1"/>
                </a:solidFill>
              </a:rPr>
              <a:t> </a:t>
            </a:r>
            <a:r>
              <a:rPr lang="pt-PT" sz="2800" b="1" dirty="0" err="1">
                <a:solidFill>
                  <a:schemeClr val="tx1"/>
                </a:solidFill>
              </a:rPr>
              <a:t>Power</a:t>
            </a:r>
            <a:r>
              <a:rPr lang="pt-PT" sz="2800" b="1" dirty="0">
                <a:solidFill>
                  <a:schemeClr val="tx1"/>
                </a:solidFill>
              </a:rPr>
              <a:t> (VSP) </a:t>
            </a:r>
            <a:r>
              <a:rPr lang="pt-PT" sz="2800" b="1" dirty="0" err="1">
                <a:solidFill>
                  <a:schemeClr val="tx1"/>
                </a:solidFill>
              </a:rPr>
              <a:t>Approach</a:t>
            </a:r>
            <a:endParaRPr lang="pt-PT" sz="28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 err="1">
                <a:solidFill>
                  <a:schemeClr val="tx1"/>
                </a:solidFill>
              </a:rPr>
              <a:t>Estimating</a:t>
            </a:r>
            <a:r>
              <a:rPr lang="pt-PT" sz="2400" dirty="0">
                <a:solidFill>
                  <a:schemeClr val="tx1"/>
                </a:solidFill>
              </a:rPr>
              <a:t> </a:t>
            </a:r>
            <a:r>
              <a:rPr lang="pt-PT" sz="2400" dirty="0" err="1">
                <a:solidFill>
                  <a:schemeClr val="tx1"/>
                </a:solidFill>
              </a:rPr>
              <a:t>instantaneous</a:t>
            </a:r>
            <a:r>
              <a:rPr lang="pt-PT" sz="2400" dirty="0">
                <a:solidFill>
                  <a:schemeClr val="tx1"/>
                </a:solidFill>
              </a:rPr>
              <a:t> </a:t>
            </a:r>
            <a:r>
              <a:rPr lang="pt-PT" sz="2400" dirty="0" err="1">
                <a:solidFill>
                  <a:schemeClr val="tx1"/>
                </a:solidFill>
              </a:rPr>
              <a:t>emissions</a:t>
            </a:r>
            <a:endParaRPr lang="pt-PT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 err="1">
                <a:solidFill>
                  <a:schemeClr val="tx1"/>
                </a:solidFill>
              </a:rPr>
              <a:t>Estimating</a:t>
            </a:r>
            <a:r>
              <a:rPr lang="pt-PT" sz="2400" dirty="0">
                <a:solidFill>
                  <a:schemeClr val="tx1"/>
                </a:solidFill>
              </a:rPr>
              <a:t>  </a:t>
            </a:r>
            <a:r>
              <a:rPr lang="pt-PT" sz="2400" dirty="0" err="1">
                <a:solidFill>
                  <a:schemeClr val="tx1"/>
                </a:solidFill>
              </a:rPr>
              <a:t>energy</a:t>
            </a:r>
            <a:r>
              <a:rPr lang="pt-PT" sz="2400" dirty="0">
                <a:solidFill>
                  <a:schemeClr val="tx1"/>
                </a:solidFill>
              </a:rPr>
              <a:t> </a:t>
            </a:r>
            <a:r>
              <a:rPr lang="pt-PT" sz="2400" dirty="0" err="1">
                <a:solidFill>
                  <a:schemeClr val="tx1"/>
                </a:solidFill>
              </a:rPr>
              <a:t>consumption</a:t>
            </a:r>
            <a:endParaRPr lang="pt-PT" sz="2400" dirty="0">
              <a:solidFill>
                <a:schemeClr val="tx1"/>
              </a:solidFill>
            </a:endParaRP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E539BE1C-AC61-9B16-EDF5-0C8A24B12805}"/>
              </a:ext>
            </a:extLst>
          </p:cNvPr>
          <p:cNvSpPr/>
          <p:nvPr/>
        </p:nvSpPr>
        <p:spPr>
          <a:xfrm>
            <a:off x="13330171" y="12079805"/>
            <a:ext cx="5704617" cy="193076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8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Physiological </a:t>
            </a:r>
            <a:r>
              <a:rPr lang="pt-PT" sz="2800" b="1" dirty="0" err="1">
                <a:solidFill>
                  <a:schemeClr val="tx1"/>
                </a:solidFill>
              </a:rPr>
              <a:t>Monitoring</a:t>
            </a:r>
            <a:r>
              <a:rPr lang="pt-PT" sz="2800" b="1" dirty="0">
                <a:solidFill>
                  <a:schemeClr val="tx1"/>
                </a:solidFill>
              </a:rPr>
              <a:t> </a:t>
            </a:r>
            <a:r>
              <a:rPr lang="pt-PT" sz="2800" b="1" dirty="0" err="1">
                <a:solidFill>
                  <a:schemeClr val="tx1"/>
                </a:solidFill>
              </a:rPr>
              <a:t>of</a:t>
            </a:r>
            <a:r>
              <a:rPr lang="pt-PT" sz="2800" b="1" dirty="0">
                <a:solidFill>
                  <a:schemeClr val="tx1"/>
                </a:solidFill>
              </a:rPr>
              <a:t> Drivers</a:t>
            </a:r>
            <a:endParaRPr lang="pt-PT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 err="1">
                <a:solidFill>
                  <a:schemeClr val="tx1"/>
                </a:solidFill>
              </a:rPr>
              <a:t>Heart</a:t>
            </a:r>
            <a:r>
              <a:rPr lang="pt-PT" sz="2400" dirty="0">
                <a:solidFill>
                  <a:schemeClr val="tx1"/>
                </a:solidFill>
              </a:rPr>
              <a:t>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Vehicular jerk (second derivative of speed) </a:t>
            </a:r>
            <a:endParaRPr lang="pt-PT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400" dirty="0">
              <a:solidFill>
                <a:schemeClr val="tx1"/>
              </a:solidFill>
            </a:endParaRPr>
          </a:p>
        </p:txBody>
      </p:sp>
      <p:cxnSp>
        <p:nvCxnSpPr>
          <p:cNvPr id="42" name="Conexão reta unidirecional 41">
            <a:extLst>
              <a:ext uri="{FF2B5EF4-FFF2-40B4-BE49-F238E27FC236}">
                <a16:creationId xmlns:a16="http://schemas.microsoft.com/office/drawing/2014/main" id="{58C557BB-C2F6-E538-D594-86D3C9E2FFD1}"/>
              </a:ext>
            </a:extLst>
          </p:cNvPr>
          <p:cNvCxnSpPr>
            <a:cxnSpLocks/>
          </p:cNvCxnSpPr>
          <p:nvPr/>
        </p:nvCxnSpPr>
        <p:spPr>
          <a:xfrm>
            <a:off x="9616960" y="11895350"/>
            <a:ext cx="0" cy="619380"/>
          </a:xfrm>
          <a:prstGeom prst="straightConnector1">
            <a:avLst/>
          </a:prstGeom>
          <a:ln w="3810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exão reta unidirecional 49">
            <a:extLst>
              <a:ext uri="{FF2B5EF4-FFF2-40B4-BE49-F238E27FC236}">
                <a16:creationId xmlns:a16="http://schemas.microsoft.com/office/drawing/2014/main" id="{8EAB1256-D6F8-BDCB-314B-E3B64F362232}"/>
              </a:ext>
            </a:extLst>
          </p:cNvPr>
          <p:cNvCxnSpPr>
            <a:cxnSpLocks/>
          </p:cNvCxnSpPr>
          <p:nvPr/>
        </p:nvCxnSpPr>
        <p:spPr>
          <a:xfrm>
            <a:off x="12233800" y="8005242"/>
            <a:ext cx="553131" cy="1"/>
          </a:xfrm>
          <a:prstGeom prst="straightConnector1">
            <a:avLst/>
          </a:prstGeom>
          <a:ln w="3810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Conexão reta unidirecional 56">
            <a:extLst>
              <a:ext uri="{FF2B5EF4-FFF2-40B4-BE49-F238E27FC236}">
                <a16:creationId xmlns:a16="http://schemas.microsoft.com/office/drawing/2014/main" id="{FAF1554A-4B3C-4365-AC8A-1FB20F4A142B}"/>
              </a:ext>
            </a:extLst>
          </p:cNvPr>
          <p:cNvCxnSpPr>
            <a:cxnSpLocks/>
          </p:cNvCxnSpPr>
          <p:nvPr/>
        </p:nvCxnSpPr>
        <p:spPr>
          <a:xfrm>
            <a:off x="15426023" y="8783790"/>
            <a:ext cx="0" cy="560443"/>
          </a:xfrm>
          <a:prstGeom prst="straightConnector1">
            <a:avLst/>
          </a:prstGeom>
          <a:ln w="3810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Conexão reta 63">
            <a:extLst>
              <a:ext uri="{FF2B5EF4-FFF2-40B4-BE49-F238E27FC236}">
                <a16:creationId xmlns:a16="http://schemas.microsoft.com/office/drawing/2014/main" id="{B6281EB0-3E64-2B11-AE3D-4010615BA90B}"/>
              </a:ext>
            </a:extLst>
          </p:cNvPr>
          <p:cNvCxnSpPr>
            <a:cxnSpLocks/>
          </p:cNvCxnSpPr>
          <p:nvPr/>
        </p:nvCxnSpPr>
        <p:spPr>
          <a:xfrm>
            <a:off x="12233800" y="8005242"/>
            <a:ext cx="0" cy="4871678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ângulo 44">
            <a:extLst>
              <a:ext uri="{FF2B5EF4-FFF2-40B4-BE49-F238E27FC236}">
                <a16:creationId xmlns:a16="http://schemas.microsoft.com/office/drawing/2014/main" id="{44B0F57F-0888-E27A-541C-1BF35D491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85019" y="35188393"/>
            <a:ext cx="68412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PT" sz="2400" i="1">
                <a:latin typeface="Aptos Display" panose="020B0004020202020204" pitchFamily="34" charset="0"/>
                <a:cs typeface="Calibri" panose="020F0502020204030204" pitchFamily="34" charset="0"/>
              </a:rPr>
              <a:t>Fig.8 – HC Emissions</a:t>
            </a:r>
            <a:endParaRPr lang="pt-PT" altLang="pt-PT" sz="2002" i="1">
              <a:latin typeface="Aptos Display" panose="020B000402020202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Conexão reta unidirecional 1">
            <a:extLst>
              <a:ext uri="{FF2B5EF4-FFF2-40B4-BE49-F238E27FC236}">
                <a16:creationId xmlns:a16="http://schemas.microsoft.com/office/drawing/2014/main" id="{EFECA555-11E1-8257-9CB8-927273F050B8}"/>
              </a:ext>
            </a:extLst>
          </p:cNvPr>
          <p:cNvCxnSpPr>
            <a:cxnSpLocks/>
          </p:cNvCxnSpPr>
          <p:nvPr/>
        </p:nvCxnSpPr>
        <p:spPr>
          <a:xfrm>
            <a:off x="9489986" y="9061867"/>
            <a:ext cx="0" cy="619380"/>
          </a:xfrm>
          <a:prstGeom prst="straightConnector1">
            <a:avLst/>
          </a:prstGeom>
          <a:ln w="3810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exão reta unidirecional 5">
            <a:extLst>
              <a:ext uri="{FF2B5EF4-FFF2-40B4-BE49-F238E27FC236}">
                <a16:creationId xmlns:a16="http://schemas.microsoft.com/office/drawing/2014/main" id="{2526D032-9C46-D75E-6FF7-7C8E428D66A9}"/>
              </a:ext>
            </a:extLst>
          </p:cNvPr>
          <p:cNvCxnSpPr>
            <a:cxnSpLocks/>
          </p:cNvCxnSpPr>
          <p:nvPr/>
        </p:nvCxnSpPr>
        <p:spPr>
          <a:xfrm>
            <a:off x="15830054" y="11516095"/>
            <a:ext cx="0" cy="560443"/>
          </a:xfrm>
          <a:prstGeom prst="straightConnector1">
            <a:avLst/>
          </a:prstGeom>
          <a:ln w="3810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13">
            <a:extLst>
              <a:ext uri="{FF2B5EF4-FFF2-40B4-BE49-F238E27FC236}">
                <a16:creationId xmlns:a16="http://schemas.microsoft.com/office/drawing/2014/main" id="{7CE218E1-FE83-D449-D07A-8EFB413EB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740" y="35803036"/>
            <a:ext cx="17897521" cy="5853910"/>
          </a:xfrm>
          <a:prstGeom prst="rect">
            <a:avLst/>
          </a:prstGeom>
          <a:noFill/>
          <a:ln w="571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PT" sz="3200" b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MS PGothic"/>
                <a:cs typeface="Calibri"/>
              </a:rPr>
              <a:t>Conclusions &amp; Research Contributions</a:t>
            </a:r>
            <a:endParaRPr lang="pt-PT" sz="3200">
              <a:solidFill>
                <a:schemeClr val="tx2">
                  <a:lumMod val="90000"/>
                  <a:lumOff val="10000"/>
                </a:schemeClr>
              </a:solidFill>
              <a:latin typeface="Aptos"/>
              <a:cs typeface="Times" panose="02020603050405020304" pitchFamily="18" charset="0"/>
            </a:endParaRPr>
          </a:p>
          <a:p>
            <a:pPr marL="285750" indent="-285750"/>
            <a:r>
              <a:rPr lang="en-US" sz="2800" b="1">
                <a:latin typeface="Aptos"/>
                <a:ea typeface="MS PGothic"/>
                <a:cs typeface="Times"/>
              </a:rPr>
              <a:t>Comprehensive real-world evaluation</a:t>
            </a:r>
            <a:r>
              <a:rPr lang="en-US" sz="2800">
                <a:latin typeface="Aptos"/>
                <a:ea typeface="MS PGothic"/>
                <a:cs typeface="Times"/>
              </a:rPr>
              <a:t> of Google Maps’ eco-routing across multiple </a:t>
            </a:r>
            <a:r>
              <a:rPr lang="en-US" sz="2800" b="1">
                <a:latin typeface="Aptos"/>
                <a:ea typeface="MS PGothic"/>
                <a:cs typeface="Times"/>
              </a:rPr>
              <a:t>vehicle technologies</a:t>
            </a:r>
            <a:r>
              <a:rPr lang="en-US" sz="2800">
                <a:latin typeface="Aptos"/>
                <a:ea typeface="MS PGothic"/>
                <a:cs typeface="Times"/>
              </a:rPr>
              <a:t> (diesel, hybrid, gasoline, electric).</a:t>
            </a:r>
            <a:endParaRPr lang="en-US" sz="2800">
              <a:latin typeface="Aptos"/>
              <a:ea typeface="MS PGothic"/>
              <a:cs typeface="Times" panose="02020603050405020304" pitchFamily="18" charset="0"/>
            </a:endParaRPr>
          </a:p>
          <a:p>
            <a:pPr marL="285750" indent="-285750" algn="just"/>
            <a:r>
              <a:rPr lang="en-US" sz="2800" b="1">
                <a:latin typeface="Aptos"/>
                <a:ea typeface="MS PGothic"/>
                <a:cs typeface="Times"/>
              </a:rPr>
              <a:t>Integration of physiological monitoring</a:t>
            </a:r>
            <a:r>
              <a:rPr lang="en-US" sz="2800">
                <a:latin typeface="Aptos"/>
                <a:ea typeface="MS PGothic"/>
                <a:cs typeface="Times"/>
              </a:rPr>
              <a:t> (heart rate, jerk) with emissions and energy data - a </a:t>
            </a:r>
            <a:r>
              <a:rPr lang="en-US" sz="2800" b="1">
                <a:latin typeface="Aptos"/>
                <a:ea typeface="MS PGothic"/>
                <a:cs typeface="Times"/>
              </a:rPr>
              <a:t>novel holistic assessment</a:t>
            </a:r>
            <a:r>
              <a:rPr lang="en-US" sz="2800">
                <a:latin typeface="Aptos"/>
                <a:ea typeface="MS PGothic"/>
                <a:cs typeface="Times"/>
              </a:rPr>
              <a:t> of eco-routing impacts.</a:t>
            </a:r>
            <a:endParaRPr lang="en-US" sz="2800">
              <a:latin typeface="Aptos"/>
              <a:ea typeface="MS PGothic"/>
            </a:endParaRPr>
          </a:p>
          <a:p>
            <a:r>
              <a:rPr lang="en-US" sz="2800" b="1">
                <a:latin typeface="Aptos"/>
                <a:ea typeface="MS PGothic"/>
                <a:cs typeface="Times"/>
              </a:rPr>
              <a:t> Eco-routing effectively reduces total emissions and energy use</a:t>
            </a:r>
            <a:r>
              <a:rPr lang="en-US" sz="2800">
                <a:latin typeface="Aptos"/>
                <a:ea typeface="MS PGothic"/>
                <a:cs typeface="Times"/>
              </a:rPr>
              <a:t> - total CO₂, CO, NOₓ, and HC emissions decreased by </a:t>
            </a:r>
            <a:r>
              <a:rPr lang="en-US" sz="2800" b="1">
                <a:latin typeface="Aptos"/>
                <a:ea typeface="MS PGothic"/>
                <a:cs typeface="Times"/>
              </a:rPr>
              <a:t>20-40%</a:t>
            </a:r>
            <a:r>
              <a:rPr lang="en-US" sz="2800">
                <a:latin typeface="Aptos"/>
                <a:ea typeface="MS PGothic"/>
                <a:cs typeface="Times"/>
              </a:rPr>
              <a:t>, consistent with Google Maps’ estimates.</a:t>
            </a:r>
          </a:p>
          <a:p>
            <a:r>
              <a:rPr lang="en-US" sz="2800" b="1">
                <a:latin typeface="Aptos"/>
                <a:ea typeface="MS PGothic"/>
                <a:cs typeface="Times"/>
              </a:rPr>
              <a:t> Per-distance emissions can increase</a:t>
            </a:r>
            <a:r>
              <a:rPr lang="en-US" sz="2800">
                <a:latin typeface="Aptos"/>
                <a:ea typeface="MS PGothic"/>
                <a:cs typeface="Times"/>
              </a:rPr>
              <a:t> because eco-routes often use </a:t>
            </a:r>
            <a:r>
              <a:rPr lang="en-US" sz="2800" b="1">
                <a:latin typeface="Aptos"/>
                <a:ea typeface="MS PGothic"/>
                <a:cs typeface="Times"/>
              </a:rPr>
              <a:t>shorter secondary roads</a:t>
            </a:r>
            <a:r>
              <a:rPr lang="en-US" sz="2800">
                <a:latin typeface="Aptos"/>
                <a:ea typeface="MS PGothic"/>
                <a:cs typeface="Times"/>
              </a:rPr>
              <a:t> with traffic control treatments (roundabouts, traffic lights), presence of active modes that cause more stopping,  or traffic variations.</a:t>
            </a:r>
            <a:endParaRPr lang="en-US" sz="2800">
              <a:latin typeface="Aptos"/>
              <a:ea typeface="MS PGothic"/>
            </a:endParaRPr>
          </a:p>
          <a:p>
            <a:r>
              <a:rPr lang="en-US" sz="2800" b="1">
                <a:latin typeface="Aptos"/>
                <a:ea typeface="MS PGothic"/>
                <a:cs typeface="Times"/>
              </a:rPr>
              <a:t> Driver comfort and stress may be slightly affected</a:t>
            </a:r>
            <a:r>
              <a:rPr lang="en-US" sz="2800">
                <a:latin typeface="Aptos"/>
                <a:ea typeface="MS PGothic"/>
                <a:cs typeface="Times"/>
              </a:rPr>
              <a:t>, with </a:t>
            </a:r>
            <a:r>
              <a:rPr lang="en-US" sz="2800" b="1">
                <a:latin typeface="Aptos"/>
                <a:ea typeface="MS PGothic"/>
                <a:cs typeface="Times"/>
              </a:rPr>
              <a:t>higher heart rates</a:t>
            </a:r>
            <a:r>
              <a:rPr lang="en-US" sz="2800">
                <a:latin typeface="Aptos"/>
                <a:ea typeface="MS PGothic"/>
                <a:cs typeface="Times"/>
              </a:rPr>
              <a:t> and more frequent </a:t>
            </a:r>
            <a:r>
              <a:rPr lang="en-US" sz="2800" b="1">
                <a:latin typeface="Aptos"/>
                <a:ea typeface="MS PGothic"/>
                <a:cs typeface="Times"/>
              </a:rPr>
              <a:t>comfort threshold violations</a:t>
            </a:r>
            <a:r>
              <a:rPr lang="en-US" sz="2800">
                <a:latin typeface="Aptos"/>
                <a:ea typeface="MS PGothic"/>
                <a:cs typeface="Times"/>
              </a:rPr>
              <a:t> (vehicular jerk) on intercity/regional eco-routes.</a:t>
            </a:r>
            <a:endParaRPr lang="en-US" sz="2800">
              <a:latin typeface="Aptos"/>
              <a:ea typeface="MS PGothic"/>
            </a:endParaRPr>
          </a:p>
        </p:txBody>
      </p:sp>
      <p:sp>
        <p:nvSpPr>
          <p:cNvPr id="41" name="TextBox 13">
            <a:extLst>
              <a:ext uri="{FF2B5EF4-FFF2-40B4-BE49-F238E27FC236}">
                <a16:creationId xmlns:a16="http://schemas.microsoft.com/office/drawing/2014/main" id="{24FE2C1F-803C-9033-3593-3A481523B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5539" y="38033458"/>
            <a:ext cx="10599354" cy="24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146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128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10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PT" sz="2800" b="1">
                <a:solidFill>
                  <a:schemeClr val="tx2">
                    <a:lumMod val="90000"/>
                    <a:lumOff val="10000"/>
                  </a:schemeClr>
                </a:solidFill>
                <a:latin typeface="Aptos Display"/>
                <a:ea typeface="MS PGothic"/>
                <a:cs typeface="Calibri"/>
              </a:rPr>
              <a:t>Acknowledgements</a:t>
            </a:r>
            <a:endParaRPr lang="pt-PT" sz="28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lnSpc>
                <a:spcPct val="120000"/>
              </a:lnSpc>
              <a:buNone/>
            </a:pPr>
            <a:r>
              <a:rPr lang="en-US" sz="2000">
                <a:latin typeface="Aptos Display"/>
                <a:ea typeface="MS PGothic"/>
                <a:cs typeface="Calibri"/>
              </a:rPr>
              <a:t>This work is funded by national funds through FCT – </a:t>
            </a:r>
            <a:r>
              <a:rPr lang="en-US" sz="2000" err="1">
                <a:latin typeface="Aptos Display"/>
                <a:ea typeface="MS PGothic"/>
                <a:cs typeface="Calibri"/>
              </a:rPr>
              <a:t>Fundação</a:t>
            </a:r>
            <a:r>
              <a:rPr lang="en-US" sz="2000">
                <a:latin typeface="Aptos Display"/>
                <a:ea typeface="MS PGothic"/>
                <a:cs typeface="Calibri"/>
              </a:rPr>
              <a:t> para a Ciência e a </a:t>
            </a:r>
            <a:r>
              <a:rPr lang="en-US" sz="2000" err="1">
                <a:latin typeface="Aptos Display"/>
                <a:ea typeface="MS PGothic"/>
                <a:cs typeface="Calibri"/>
              </a:rPr>
              <a:t>Tecnologia</a:t>
            </a:r>
            <a:r>
              <a:rPr lang="en-US" sz="2000">
                <a:latin typeface="Aptos Display"/>
                <a:ea typeface="MS PGothic"/>
                <a:cs typeface="Calibri"/>
              </a:rPr>
              <a:t>, I.P., under the project/support UID/00481 – Centre for Mechanical Technology and Automation (TEMA), and the Interreg Europe projects SPOTLOG 01C0055 and EMBRACER 01C0056. Paulo Fernandes acknowledges FCT support 2021.02488.CEECIND (</a:t>
            </a:r>
            <a:r>
              <a:rPr lang="en-US" sz="2000">
                <a:solidFill>
                  <a:srgbClr val="000000"/>
                </a:solidFill>
                <a:latin typeface="Aptos Display"/>
                <a:ea typeface="MS PGothic"/>
                <a:cs typeface="Calibri"/>
              </a:rPr>
              <a:t>https://doi.org/10.54499/2021.02488.CEECIND/CP1659/CT0013</a:t>
            </a:r>
            <a:r>
              <a:rPr lang="en-US" sz="2000">
                <a:latin typeface="Aptos Display"/>
                <a:ea typeface="MS PGothic"/>
                <a:cs typeface="Calibri"/>
              </a:rPr>
              <a:t>).</a:t>
            </a:r>
            <a:endParaRPr lang="en-US">
              <a:ea typeface="MS P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0975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55EB758D4009468B6667B34272060C" ma:contentTypeVersion="4" ma:contentTypeDescription="Criar um novo documento." ma:contentTypeScope="" ma:versionID="acda3a88c24a0f1042621a8b75078ac9">
  <xsd:schema xmlns:xsd="http://www.w3.org/2001/XMLSchema" xmlns:xs="http://www.w3.org/2001/XMLSchema" xmlns:p="http://schemas.microsoft.com/office/2006/metadata/properties" xmlns:ns2="89732f29-b8b5-4406-b435-bc4a809128d9" targetNamespace="http://schemas.microsoft.com/office/2006/metadata/properties" ma:root="true" ma:fieldsID="b92f05f2116ea1c24552604b8f50cb76" ns2:_="">
    <xsd:import namespace="89732f29-b8b5-4406-b435-bc4a809128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732f29-b8b5-4406-b435-bc4a809128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C863F4-57EB-4ABF-84A7-63ED790DC3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9F0D87-960E-49AD-8D21-E0C8526D8AE0}">
  <ds:schemaRefs>
    <ds:schemaRef ds:uri="http://purl.org/dc/terms/"/>
    <ds:schemaRef ds:uri="89732f29-b8b5-4406-b435-bc4a809128d9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CB41488-9F80-40CB-BAF9-22FF011FD1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732f29-b8b5-4406-b435-bc4a809128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890</Words>
  <Application>Microsoft Office PowerPoint</Application>
  <PresentationFormat>Personalizados</PresentationFormat>
  <Paragraphs>60</Paragraphs>
  <Slides>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7" baseType="lpstr">
      <vt:lpstr>MS PGothic</vt:lpstr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Figueira</dc:creator>
  <cp:lastModifiedBy>Samuel Figueira</cp:lastModifiedBy>
  <cp:revision>1</cp:revision>
  <dcterms:created xsi:type="dcterms:W3CDTF">2025-10-12T15:34:03Z</dcterms:created>
  <dcterms:modified xsi:type="dcterms:W3CDTF">2025-12-03T17:56:50Z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0x0101004455EB758D4009468B6667B34272060C</vt:lpwstr>
  </property>
</Properties>
</file>